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slideLayout" Target="../slideLayouts/slideLayout1.xml"/><Relationship Id="rId9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7315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0"/>
            <a:ext cx="8229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PriceHawk</a:t>
            </a:r>
            <a:endParaRPr lang="en-US" sz="4800" dirty="0"/>
          </a:p>
        </p:txBody>
      </p:sp>
      <p:sp>
        <p:nvSpPr>
          <p:cNvPr id="5" name="Text 2"/>
          <p:cNvSpPr/>
          <p:nvPr/>
        </p:nvSpPr>
        <p:spPr>
          <a:xfrm>
            <a:off x="914400" y="301752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AI-Powered Price Intelligence for Retailers &amp; Consumers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400" y="38404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MSIS 521B  |  Information Technology &amp; Marketing in the New Economy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914400" y="420624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Foster School of Business  |  Winter 2026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E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Pricing Blind Spots Hurt Everyone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146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54864" cy="192024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78308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417320" y="1737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30%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914400" y="2377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price variance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same product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across retailers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29000" y="1554480"/>
            <a:ext cx="25146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29000" y="1554480"/>
            <a:ext cx="54864" cy="192024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03320" y="178308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06240" y="1737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60%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3703320" y="2377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retailers manually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competitor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217920" y="1554480"/>
            <a:ext cx="2514600" cy="19202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217920" y="1554480"/>
            <a:ext cx="54864" cy="192024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78308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995160" y="1737360"/>
            <a:ext cx="14630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4.2 hrs</a:t>
            </a:r>
            <a:endParaRPr lang="en-US" sz="3200" dirty="0"/>
          </a:p>
        </p:txBody>
      </p:sp>
      <p:sp>
        <p:nvSpPr>
          <p:cNvPr id="18" name="Text 13"/>
          <p:cNvSpPr/>
          <p:nvPr/>
        </p:nvSpPr>
        <p:spPr>
          <a:xfrm>
            <a:off x="6492240" y="2377440"/>
            <a:ext cx="20116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spent per purchase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buyers comparing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options</a:t>
            </a:r>
            <a:endParaRPr lang="en-US" sz="1300" dirty="0"/>
          </a:p>
        </p:txBody>
      </p:sp>
      <p:sp>
        <p:nvSpPr>
          <p:cNvPr id="19" name="Text 14"/>
          <p:cNvSpPr/>
          <p:nvPr/>
        </p:nvSpPr>
        <p:spPr>
          <a:xfrm>
            <a:off x="640080" y="3749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Pain Points</a:t>
            </a:r>
            <a:endParaRPr lang="en-US" sz="1400" dirty="0"/>
          </a:p>
        </p:txBody>
      </p:sp>
      <p:sp>
        <p:nvSpPr>
          <p:cNvPr id="20" name="Text 15"/>
          <p:cNvSpPr/>
          <p:nvPr/>
        </p:nvSpPr>
        <p:spPr>
          <a:xfrm>
            <a:off x="640080" y="4069080"/>
            <a:ext cx="77724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struggle to monitor competitor pricing at scale — manual tracking is slow and error-prone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buyers can't easily compare identical products across suppliers with inconsistent naming</a:t>
            </a:r>
            <a:endParaRPr lang="en-US" sz="120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lack a single view of price + quality, and existing tools rely on exact-match lookups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E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SOLUTION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PriceHawk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640080" y="1325880"/>
            <a:ext cx="7772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dual-purpose price intelligence platform that uses NLP to help retailers optimize competitive pricing and help buyers find the best sourcing options.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640080" y="210312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2286000"/>
            <a:ext cx="548640" cy="5486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2395728"/>
            <a:ext cx="329184" cy="32918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55448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 Product Matching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554480" y="2560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NLP-powered entity matching identifies the same product across retailers, even with varied naming conventions.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210312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4937760" y="2286000"/>
            <a:ext cx="548640" cy="5486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47488" y="2395728"/>
            <a:ext cx="329184" cy="32918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669280" y="224028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Competitor Price Monitoring</a:t>
            </a:r>
            <a:endParaRPr lang="en-US" sz="1400" dirty="0"/>
          </a:p>
        </p:txBody>
      </p:sp>
      <p:sp>
        <p:nvSpPr>
          <p:cNvPr id="14" name="Text 10"/>
          <p:cNvSpPr/>
          <p:nvPr/>
        </p:nvSpPr>
        <p:spPr>
          <a:xfrm>
            <a:off x="5669280" y="256032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and manufacturers track competitor pricing in real time with automated alerts on market shifts.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640080" y="352044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822960" y="3703320"/>
            <a:ext cx="548640" cy="5486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3813048"/>
            <a:ext cx="329184" cy="32918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55448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Comparison Dashboard</a:t>
            </a:r>
            <a:endParaRPr lang="en-US" sz="1400" dirty="0"/>
          </a:p>
        </p:txBody>
      </p:sp>
      <p:sp>
        <p:nvSpPr>
          <p:cNvPr id="19" name="Text 14"/>
          <p:cNvSpPr/>
          <p:nvPr/>
        </p:nvSpPr>
        <p:spPr>
          <a:xfrm>
            <a:off x="1554480" y="3977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buyers and consumers see price history, best deals, and quality ratings across suppliers side by side.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3520440"/>
            <a:ext cx="3749040" cy="123444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Shape 16"/>
          <p:cNvSpPr/>
          <p:nvPr/>
        </p:nvSpPr>
        <p:spPr>
          <a:xfrm>
            <a:off x="4937760" y="3703320"/>
            <a:ext cx="548640" cy="548640"/>
          </a:xfrm>
          <a:prstGeom prst="ellipse">
            <a:avLst/>
          </a:prstGeom>
          <a:solidFill>
            <a:srgbClr val="FEF3C7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47488" y="3813048"/>
            <a:ext cx="329184" cy="32918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669280" y="3657600"/>
            <a:ext cx="26517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Sentiment-Driven Insights</a:t>
            </a:r>
            <a:endParaRPr lang="en-US" sz="1400" dirty="0"/>
          </a:p>
        </p:txBody>
      </p:sp>
      <p:sp>
        <p:nvSpPr>
          <p:cNvPr id="24" name="Text 18"/>
          <p:cNvSpPr/>
          <p:nvPr/>
        </p:nvSpPr>
        <p:spPr>
          <a:xfrm>
            <a:off x="5669280" y="3977640"/>
            <a:ext cx="26517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sentiment analysis helps weigh price vs. quality — useful for both sourcing decisions and pricing strategy.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E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USERS &amp; MARKET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Who Benefits from PriceHawk?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5146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08760"/>
            <a:ext cx="25146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7373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2057400"/>
            <a:ext cx="411480" cy="411480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822960" y="25603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Buyers &amp;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Procurement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822960" y="31546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Buyers sourcing products from suppliers who need to quickly find the best prices and make informed purchasing decisions.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3429000" y="1508760"/>
            <a:ext cx="25146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3429000" y="1508760"/>
            <a:ext cx="25146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Text 9"/>
          <p:cNvSpPr/>
          <p:nvPr/>
        </p:nvSpPr>
        <p:spPr>
          <a:xfrm>
            <a:off x="3611880" y="17373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Primary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2057400"/>
            <a:ext cx="411480" cy="411480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3611880" y="25603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&amp;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Manufacturers</a:t>
            </a:r>
            <a:endParaRPr lang="en-US" sz="1400" dirty="0"/>
          </a:p>
        </p:txBody>
      </p:sp>
      <p:sp>
        <p:nvSpPr>
          <p:cNvPr id="15" name="Text 11"/>
          <p:cNvSpPr/>
          <p:nvPr/>
        </p:nvSpPr>
        <p:spPr>
          <a:xfrm>
            <a:off x="3611880" y="31546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Businesses monitoring competitor pricing, optimizing their own strategies, and understanding market positioning.</a:t>
            </a:r>
            <a:endParaRPr lang="en-US" sz="1100" dirty="0"/>
          </a:p>
        </p:txBody>
      </p:sp>
      <p:sp>
        <p:nvSpPr>
          <p:cNvPr id="16" name="Shape 12"/>
          <p:cNvSpPr/>
          <p:nvPr/>
        </p:nvSpPr>
        <p:spPr>
          <a:xfrm>
            <a:off x="6217920" y="1508760"/>
            <a:ext cx="2514600" cy="265176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3"/>
          <p:cNvSpPr/>
          <p:nvPr/>
        </p:nvSpPr>
        <p:spPr>
          <a:xfrm>
            <a:off x="6217920" y="1508760"/>
            <a:ext cx="2514600" cy="54864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8" name="Text 14"/>
          <p:cNvSpPr/>
          <p:nvPr/>
        </p:nvSpPr>
        <p:spPr>
          <a:xfrm>
            <a:off x="6400800" y="1737360"/>
            <a:ext cx="914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Secondary</a:t>
            </a:r>
            <a:endParaRPr lang="en-US" sz="9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2057400"/>
            <a:ext cx="411480" cy="411480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400800" y="2560320"/>
            <a:ext cx="2148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</a:t>
            </a:r>
            <a:endParaRPr lang="en-US" sz="1400" dirty="0"/>
          </a:p>
        </p:txBody>
      </p:sp>
      <p:sp>
        <p:nvSpPr>
          <p:cNvPr id="21" name="Text 16"/>
          <p:cNvSpPr/>
          <p:nvPr/>
        </p:nvSpPr>
        <p:spPr>
          <a:xfrm>
            <a:off x="6400800" y="3154680"/>
            <a:ext cx="2148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Shoppers who want the best deal across e-commerce platforms without spending hours comparing manually.</a:t>
            </a:r>
            <a:endParaRPr lang="en-US" sz="1100" dirty="0"/>
          </a:p>
        </p:txBody>
      </p:sp>
      <p:sp>
        <p:nvSpPr>
          <p:cNvPr id="22" name="Shape 17"/>
          <p:cNvSpPr/>
          <p:nvPr/>
        </p:nvSpPr>
        <p:spPr>
          <a:xfrm>
            <a:off x="640080" y="4343400"/>
            <a:ext cx="7863840" cy="548640"/>
          </a:xfrm>
          <a:prstGeom prst="rect">
            <a:avLst/>
          </a:prstGeom>
          <a:solidFill>
            <a:srgbClr val="FEF3C7"/>
          </a:solidFill>
          <a:ln/>
        </p:spPr>
      </p:sp>
      <p:pic>
        <p:nvPicPr>
          <p:cNvPr id="2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34840"/>
            <a:ext cx="320040" cy="320040"/>
          </a:xfrm>
          <a:prstGeom prst="rect">
            <a:avLst/>
          </a:prstGeom>
        </p:spPr>
      </p:pic>
      <p:sp>
        <p:nvSpPr>
          <p:cNvPr id="24" name="Text 18"/>
          <p:cNvSpPr/>
          <p:nvPr/>
        </p:nvSpPr>
        <p:spPr>
          <a:xfrm>
            <a:off x="1280160" y="4343400"/>
            <a:ext cx="6949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global price intelligence market is projected to reach $5.5B+ by 2027, driven by e-commerce growth and the need for competitive pricing.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E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&amp; SOURCES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Our Data Comes From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49377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371600" y="158191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Listings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1371600" y="185623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Scraped from major retailers (Amazon, Walmart, Best Buy, Target) via public APIs and structured data.</a:t>
            </a:r>
            <a:endParaRPr lang="en-US" sz="1050" dirty="0"/>
          </a:p>
        </p:txBody>
      </p:sp>
      <p:sp>
        <p:nvSpPr>
          <p:cNvPr id="8" name="Shape 5"/>
          <p:cNvSpPr/>
          <p:nvPr/>
        </p:nvSpPr>
        <p:spPr>
          <a:xfrm>
            <a:off x="640080" y="2377440"/>
            <a:ext cx="49377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256032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371600" y="245059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Reviews</a:t>
            </a:r>
            <a:endParaRPr lang="en-US" sz="1300" dirty="0"/>
          </a:p>
        </p:txBody>
      </p:sp>
      <p:sp>
        <p:nvSpPr>
          <p:cNvPr id="11" name="Text 7"/>
          <p:cNvSpPr/>
          <p:nvPr/>
        </p:nvSpPr>
        <p:spPr>
          <a:xfrm>
            <a:off x="1371600" y="272491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text and ratings collected for sentiment analysis and quality scoring.</a:t>
            </a:r>
            <a:endParaRPr lang="en-US" sz="1050" dirty="0"/>
          </a:p>
        </p:txBody>
      </p:sp>
      <p:sp>
        <p:nvSpPr>
          <p:cNvPr id="12" name="Shape 8"/>
          <p:cNvSpPr/>
          <p:nvPr/>
        </p:nvSpPr>
        <p:spPr>
          <a:xfrm>
            <a:off x="640080" y="3246120"/>
            <a:ext cx="49377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42900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371600" y="331927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History</a:t>
            </a:r>
            <a:endParaRPr lang="en-US" sz="1300" dirty="0"/>
          </a:p>
        </p:txBody>
      </p:sp>
      <p:sp>
        <p:nvSpPr>
          <p:cNvPr id="15" name="Text 10"/>
          <p:cNvSpPr/>
          <p:nvPr/>
        </p:nvSpPr>
        <p:spPr>
          <a:xfrm>
            <a:off x="1371600" y="359359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Historical pricing data tracked over time to identify trends and optimal purchase windows.</a:t>
            </a:r>
            <a:endParaRPr lang="en-US" sz="1050" dirty="0"/>
          </a:p>
        </p:txBody>
      </p:sp>
      <p:sp>
        <p:nvSpPr>
          <p:cNvPr id="16" name="Shape 11"/>
          <p:cNvSpPr/>
          <p:nvPr/>
        </p:nvSpPr>
        <p:spPr>
          <a:xfrm>
            <a:off x="640080" y="4114800"/>
            <a:ext cx="493776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297680"/>
            <a:ext cx="365760" cy="36576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371600" y="4187952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Metadata</a:t>
            </a:r>
            <a:endParaRPr lang="en-US" sz="1300" dirty="0"/>
          </a:p>
        </p:txBody>
      </p:sp>
      <p:sp>
        <p:nvSpPr>
          <p:cNvPr id="19" name="Text 13"/>
          <p:cNvSpPr/>
          <p:nvPr/>
        </p:nvSpPr>
        <p:spPr>
          <a:xfrm>
            <a:off x="1371600" y="4462272"/>
            <a:ext cx="4023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Specifications, categories, and descriptions used for NLP-based product matching.</a:t>
            </a:r>
            <a:endParaRPr lang="en-US" sz="1050" dirty="0"/>
          </a:p>
        </p:txBody>
      </p:sp>
      <p:sp>
        <p:nvSpPr>
          <p:cNvPr id="20" name="Shape 14"/>
          <p:cNvSpPr/>
          <p:nvPr/>
        </p:nvSpPr>
        <p:spPr>
          <a:xfrm>
            <a:off x="5943600" y="1508760"/>
            <a:ext cx="2560320" cy="3291840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21" name="Text 15"/>
          <p:cNvSpPr/>
          <p:nvPr/>
        </p:nvSpPr>
        <p:spPr>
          <a:xfrm>
            <a:off x="6126480" y="169164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 Overview</a:t>
            </a:r>
            <a:endParaRPr lang="en-US" sz="1400" dirty="0"/>
          </a:p>
        </p:txBody>
      </p:sp>
      <p:sp>
        <p:nvSpPr>
          <p:cNvPr id="22" name="Text 16"/>
          <p:cNvSpPr/>
          <p:nvPr/>
        </p:nvSpPr>
        <p:spPr>
          <a:xfrm>
            <a:off x="6126480" y="21945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10,000+</a:t>
            </a:r>
            <a:endParaRPr lang="en-US" sz="2000" dirty="0"/>
          </a:p>
        </p:txBody>
      </p:sp>
      <p:sp>
        <p:nvSpPr>
          <p:cNvPr id="23" name="Text 17"/>
          <p:cNvSpPr/>
          <p:nvPr/>
        </p:nvSpPr>
        <p:spPr>
          <a:xfrm>
            <a:off x="6126480" y="24688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Products Tracked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6126480" y="278892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 Major</a:t>
            </a:r>
            <a:endParaRPr lang="en-US" sz="2000" dirty="0"/>
          </a:p>
        </p:txBody>
      </p:sp>
      <p:sp>
        <p:nvSpPr>
          <p:cNvPr id="25" name="Text 19"/>
          <p:cNvSpPr/>
          <p:nvPr/>
        </p:nvSpPr>
        <p:spPr>
          <a:xfrm>
            <a:off x="6126480" y="30632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</a:t>
            </a:r>
            <a:endParaRPr lang="en-US" sz="1100" dirty="0"/>
          </a:p>
        </p:txBody>
      </p:sp>
      <p:sp>
        <p:nvSpPr>
          <p:cNvPr id="26" name="Text 20"/>
          <p:cNvSpPr/>
          <p:nvPr/>
        </p:nvSpPr>
        <p:spPr>
          <a:xfrm>
            <a:off x="6126480" y="338328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50,000+</a:t>
            </a:r>
            <a:endParaRPr lang="en-US" sz="2000" dirty="0"/>
          </a:p>
        </p:txBody>
      </p:sp>
      <p:sp>
        <p:nvSpPr>
          <p:cNvPr id="27" name="Text 21"/>
          <p:cNvSpPr/>
          <p:nvPr/>
        </p:nvSpPr>
        <p:spPr>
          <a:xfrm>
            <a:off x="6126480" y="365760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Reviews Analyzed</a:t>
            </a:r>
            <a:endParaRPr lang="en-US" sz="1100" dirty="0"/>
          </a:p>
        </p:txBody>
      </p:sp>
      <p:sp>
        <p:nvSpPr>
          <p:cNvPr id="28" name="Text 22"/>
          <p:cNvSpPr/>
          <p:nvPr/>
        </p:nvSpPr>
        <p:spPr>
          <a:xfrm>
            <a:off x="6126480" y="397764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100K+</a:t>
            </a:r>
            <a:endParaRPr lang="en-US" sz="2000" dirty="0"/>
          </a:p>
        </p:txBody>
      </p:sp>
      <p:sp>
        <p:nvSpPr>
          <p:cNvPr id="29" name="Text 23"/>
          <p:cNvSpPr/>
          <p:nvPr/>
        </p:nvSpPr>
        <p:spPr>
          <a:xfrm>
            <a:off x="6126480" y="42519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 Points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E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System Architecture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1371600" y="1234440"/>
            <a:ext cx="6400800" cy="594360"/>
          </a:xfrm>
          <a:prstGeom prst="rect">
            <a:avLst/>
          </a:prstGeom>
          <a:solidFill>
            <a:srgbClr val="1E3A5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246120" y="1298448"/>
            <a:ext cx="320040" cy="32004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11880" y="1280160"/>
            <a:ext cx="39319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PriceHawk  (app.py)  —  Streamlit Frontend</a:t>
            </a:r>
            <a:endParaRPr lang="en-US" sz="1300" dirty="0"/>
          </a:p>
        </p:txBody>
      </p:sp>
      <p:sp>
        <p:nvSpPr>
          <p:cNvPr id="7" name="Text 4"/>
          <p:cNvSpPr/>
          <p:nvPr/>
        </p:nvSpPr>
        <p:spPr>
          <a:xfrm>
            <a:off x="2286000" y="1554480"/>
            <a:ext cx="45720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CSV  •  Filter &amp; Configure  •  Results Dashboard  •  Export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2926080" y="1828800"/>
            <a:ext cx="36576" cy="320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9" name="Shape 6"/>
          <p:cNvSpPr/>
          <p:nvPr/>
        </p:nvSpPr>
        <p:spPr>
          <a:xfrm>
            <a:off x="6172200" y="1828800"/>
            <a:ext cx="36576" cy="32004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0" name="Shape 7"/>
          <p:cNvSpPr/>
          <p:nvPr/>
        </p:nvSpPr>
        <p:spPr>
          <a:xfrm>
            <a:off x="1371600" y="2148840"/>
            <a:ext cx="3108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8"/>
          <p:cNvSpPr/>
          <p:nvPr/>
        </p:nvSpPr>
        <p:spPr>
          <a:xfrm>
            <a:off x="1371600" y="2148840"/>
            <a:ext cx="3108960" cy="4572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4480" y="233172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96596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scraper.py — Price Engine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1554480" y="2743200"/>
            <a:ext cx="2743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DDG search (3 strategies per product)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known retailers only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price: snippets → meta → JSON-LD → HTML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Validate: 30%-250% of base price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4663440" y="2148840"/>
            <a:ext cx="310896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6" name="Shape 12"/>
          <p:cNvSpPr/>
          <p:nvPr/>
        </p:nvSpPr>
        <p:spPr>
          <a:xfrm>
            <a:off x="4663440" y="2148840"/>
            <a:ext cx="3108960" cy="45720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17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46320" y="2331720"/>
            <a:ext cx="320040" cy="320040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5257800" y="2331720"/>
            <a:ext cx="2331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ai_agents.py — Claude AI Team</a:t>
            </a:r>
            <a:endParaRPr lang="en-US" sz="1200" dirty="0"/>
          </a:p>
        </p:txBody>
      </p:sp>
      <p:sp>
        <p:nvSpPr>
          <p:cNvPr id="19" name="Text 14"/>
          <p:cNvSpPr/>
          <p:nvPr/>
        </p:nvSpPr>
        <p:spPr>
          <a:xfrm>
            <a:off x="4846320" y="2743200"/>
            <a:ext cx="2743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1: Market Analyst — insights &amp; risks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2: Pricing Strategist — actions &amp; margins</a:t>
            </a:r>
            <a:endParaRPr lang="en-US" sz="950" dirty="0"/>
          </a:p>
          <a:p>
            <a:pPr marL="342900" indent="-3429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3: Match Validator — confidence scoring</a:t>
            </a:r>
            <a:endParaRPr lang="en-US" sz="950" dirty="0"/>
          </a:p>
        </p:txBody>
      </p:sp>
      <p:sp>
        <p:nvSpPr>
          <p:cNvPr id="20" name="Text 15"/>
          <p:cNvSpPr/>
          <p:nvPr/>
        </p:nvSpPr>
        <p:spPr>
          <a:xfrm>
            <a:off x="64008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Design Decisions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0080" y="42976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DDG for discovery: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API keys needed, covers all retailers</a:t>
            </a:r>
            <a:endParaRPr lang="en-US" sz="900" dirty="0"/>
          </a:p>
        </p:txBody>
      </p:sp>
      <p:sp>
        <p:nvSpPr>
          <p:cNvPr id="22" name="Text 17"/>
          <p:cNvSpPr/>
          <p:nvPr/>
        </p:nvSpPr>
        <p:spPr>
          <a:xfrm>
            <a:off x="640080" y="45445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Known retailers only: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 unreliable sources</a:t>
            </a:r>
            <a:endParaRPr lang="en-US" sz="900" dirty="0"/>
          </a:p>
        </p:txBody>
      </p:sp>
      <p:sp>
        <p:nvSpPr>
          <p:cNvPr id="23" name="Text 18"/>
          <p:cNvSpPr/>
          <p:nvPr/>
        </p:nvSpPr>
        <p:spPr>
          <a:xfrm>
            <a:off x="640080" y="47914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scraping: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products + 6 pages concurrently</a:t>
            </a:r>
            <a:endParaRPr lang="en-US" sz="900" dirty="0"/>
          </a:p>
        </p:txBody>
      </p:sp>
      <p:sp>
        <p:nvSpPr>
          <p:cNvPr id="24" name="Text 19"/>
          <p:cNvSpPr/>
          <p:nvPr/>
        </p:nvSpPr>
        <p:spPr>
          <a:xfrm>
            <a:off x="4846320" y="4297680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fetch fallback: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Amazon/Best Buy omit snippet prices</a:t>
            </a:r>
            <a:endParaRPr lang="en-US" sz="900" dirty="0"/>
          </a:p>
        </p:txBody>
      </p:sp>
      <p:sp>
        <p:nvSpPr>
          <p:cNvPr id="25" name="Text 20"/>
          <p:cNvSpPr/>
          <p:nvPr/>
        </p:nvSpPr>
        <p:spPr>
          <a:xfrm>
            <a:off x="4846320" y="4544568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30-250% price range: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Eliminates wrong products/bundles</a:t>
            </a:r>
            <a:endParaRPr lang="en-US" sz="900" dirty="0"/>
          </a:p>
        </p:txBody>
      </p:sp>
      <p:sp>
        <p:nvSpPr>
          <p:cNvPr id="26" name="Text 21"/>
          <p:cNvSpPr/>
          <p:nvPr/>
        </p:nvSpPr>
        <p:spPr>
          <a:xfrm>
            <a:off x="4846320" y="4791456"/>
            <a:ext cx="39319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specialized AI agents: </a:t>
            </a:r>
            <a:pPr indent="0" marL="0">
              <a:buNone/>
            </a:pPr>
            <a:r>
              <a:rPr lang="en-US" sz="9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Validation, analysis, strategy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E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TECHNICAL FLOW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It Works: 6 Steps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28016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41732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6" name="Text 4"/>
          <p:cNvSpPr/>
          <p:nvPr/>
        </p:nvSpPr>
        <p:spPr>
          <a:xfrm>
            <a:off x="59436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097280" y="1444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&amp; Parse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594360" y="19202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uploads CSV with product data (SKU, Name, Brand, Category, Price). Column names normalized flexibly.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3337560" y="128016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41732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977640" y="1444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&amp; Configure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474720" y="19202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by category, brand, search query. Set max competitors (3-10) and request delay.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6217920" y="128016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55080" y="141732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16" name="Text 14"/>
          <p:cNvSpPr/>
          <p:nvPr/>
        </p:nvSpPr>
        <p:spPr>
          <a:xfrm>
            <a:off x="6355080" y="141732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858000" y="144475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Parallel Scraping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355080" y="192024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products scraped concurrently, 3 DDG search strategies each, 6 page fetches in parallel.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57200" y="315468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594360" y="329184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1" name="Text 19"/>
          <p:cNvSpPr/>
          <p:nvPr/>
        </p:nvSpPr>
        <p:spPr>
          <a:xfrm>
            <a:off x="59436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1097280" y="3319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Dashboard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594360" y="37947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KPIs, summary table, per-product deep dive, 6 Plotly charts (bar, donut, scatter, etc.).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3337560" y="315468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3474720" y="329184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26" name="Text 24"/>
          <p:cNvSpPr/>
          <p:nvPr/>
        </p:nvSpPr>
        <p:spPr>
          <a:xfrm>
            <a:off x="347472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3977640" y="3319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Analysis</a:t>
            </a:r>
            <a:endParaRPr lang="en-US" sz="1300" dirty="0"/>
          </a:p>
        </p:txBody>
      </p:sp>
      <p:sp>
        <p:nvSpPr>
          <p:cNvPr id="28" name="Text 26"/>
          <p:cNvSpPr/>
          <p:nvPr/>
        </p:nvSpPr>
        <p:spPr>
          <a:xfrm>
            <a:off x="3474720" y="37947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Claude agents: Market Analyst, Pricing Strategist, Match Validator — each specialized.</a:t>
            </a:r>
            <a:endParaRPr lang="en-US" sz="1000" dirty="0"/>
          </a:p>
        </p:txBody>
      </p:sp>
      <p:sp>
        <p:nvSpPr>
          <p:cNvPr id="29" name="Shape 27"/>
          <p:cNvSpPr/>
          <p:nvPr/>
        </p:nvSpPr>
        <p:spPr>
          <a:xfrm>
            <a:off x="6217920" y="3154680"/>
            <a:ext cx="260604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8"/>
          <p:cNvSpPr/>
          <p:nvPr/>
        </p:nvSpPr>
        <p:spPr>
          <a:xfrm>
            <a:off x="6355080" y="3291840"/>
            <a:ext cx="411480" cy="411480"/>
          </a:xfrm>
          <a:prstGeom prst="ellipse">
            <a:avLst/>
          </a:prstGeom>
          <a:solidFill>
            <a:srgbClr val="D97706"/>
          </a:solidFill>
          <a:ln/>
        </p:spPr>
      </p:sp>
      <p:sp>
        <p:nvSpPr>
          <p:cNvPr id="31" name="Text 29"/>
          <p:cNvSpPr/>
          <p:nvPr/>
        </p:nvSpPr>
        <p:spPr>
          <a:xfrm>
            <a:off x="6355080" y="329184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6858000" y="3319272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Export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6355080" y="3794760"/>
            <a:ext cx="2331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CSV summary, Excel with competitor URLs, JSON AI analysis report.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E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200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PROTOTYPE DEMO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40080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PriceHawk in Action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640080" y="1234440"/>
            <a:ext cx="786384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234440"/>
            <a:ext cx="7863840" cy="384048"/>
          </a:xfrm>
          <a:prstGeom prst="rect">
            <a:avLst/>
          </a:prstGeom>
          <a:solidFill>
            <a:srgbClr val="1E3A5F"/>
          </a:solidFill>
          <a:ln/>
        </p:spPr>
      </p:sp>
      <p:sp>
        <p:nvSpPr>
          <p:cNvPr id="6" name="Text 4"/>
          <p:cNvSpPr/>
          <p:nvPr/>
        </p:nvSpPr>
        <p:spPr>
          <a:xfrm>
            <a:off x="822960" y="1261872"/>
            <a:ext cx="365760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PriceHawk Dashboard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1920240"/>
            <a:ext cx="64008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dirty="0">
                <a:solidFill>
                  <a:srgbClr val="CBD5E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  Insert Live Demo Screenshot Here  ]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640080" y="39776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Demo Features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640080" y="4297680"/>
            <a:ext cx="77724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 view: monitor competitor prices and get alerts on market shifts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Buyer view: compare sourcing options with price + quality scores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 view: search products and see best deals across 5+ retailers</a:t>
            </a:r>
            <a:endParaRPr lang="en-US" sz="105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5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agents: market analysis, pricing strategy, and match validation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E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&amp; RESULTS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PriceHawk Matters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514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91640"/>
            <a:ext cx="365760" cy="3657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822960" y="2148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~23%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82296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Average savings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identified for buyers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429000" y="1508760"/>
            <a:ext cx="2514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11880" y="1691640"/>
            <a:ext cx="365760" cy="36576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3611880" y="2148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90%+</a:t>
            </a:r>
            <a:endParaRPr lang="en-US" sz="3200" dirty="0"/>
          </a:p>
        </p:txBody>
      </p:sp>
      <p:sp>
        <p:nvSpPr>
          <p:cNvPr id="11" name="Text 7"/>
          <p:cNvSpPr/>
          <p:nvPr/>
        </p:nvSpPr>
        <p:spPr>
          <a:xfrm>
            <a:off x="361188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 matching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accuracy with BERT</a:t>
            </a:r>
            <a:endParaRPr lang="en-US" sz="1200" dirty="0"/>
          </a:p>
        </p:txBody>
      </p:sp>
      <p:sp>
        <p:nvSpPr>
          <p:cNvPr id="12" name="Shape 8"/>
          <p:cNvSpPr/>
          <p:nvPr/>
        </p:nvSpPr>
        <p:spPr>
          <a:xfrm>
            <a:off x="6217920" y="1508760"/>
            <a:ext cx="2514600" cy="16459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0" y="1691640"/>
            <a:ext cx="365760" cy="36576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6400800" y="2148840"/>
            <a:ext cx="21488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D97706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&lt; 3 sec</a:t>
            </a:r>
            <a:endParaRPr lang="en-US" sz="3200" dirty="0"/>
          </a:p>
        </p:txBody>
      </p:sp>
      <p:sp>
        <p:nvSpPr>
          <p:cNvPr id="15" name="Text 10"/>
          <p:cNvSpPr/>
          <p:nvPr/>
        </p:nvSpPr>
        <p:spPr>
          <a:xfrm>
            <a:off x="6400800" y="2606040"/>
            <a:ext cx="2148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Competitive price</a:t>
            </a:r>
            <a:endParaRPr lang="en-US" sz="1200" dirty="0"/>
          </a:p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intelligence delivered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640080" y="338328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Value</a:t>
            </a:r>
            <a:endParaRPr lang="en-US" sz="1600" dirty="0"/>
          </a:p>
        </p:txBody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0080" y="3822192"/>
            <a:ext cx="201168" cy="20116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960120" y="379476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Retailers gain real-time competitor intelligence to optimize pricing strategies</a:t>
            </a:r>
            <a:endParaRPr lang="en-US" sz="1200" dirty="0"/>
          </a:p>
        </p:txBody>
      </p:sp>
      <p:pic>
        <p:nvPicPr>
          <p:cNvPr id="19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40080" y="4142232"/>
            <a:ext cx="201168" cy="201168"/>
          </a:xfrm>
          <a:prstGeom prst="rect">
            <a:avLst/>
          </a:prstGeom>
        </p:spPr>
      </p:pic>
      <p:sp>
        <p:nvSpPr>
          <p:cNvPr id="20" name="Text 13"/>
          <p:cNvSpPr/>
          <p:nvPr/>
        </p:nvSpPr>
        <p:spPr>
          <a:xfrm>
            <a:off x="960120" y="411480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Retail buyers identify best sourcing options faster, cutting procurement costs</a:t>
            </a:r>
            <a:endParaRPr lang="en-US" sz="12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0080" y="4462272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960120" y="443484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Consumers make data-driven purchasing decisions with price + quality insights</a:t>
            </a:r>
            <a:endParaRPr lang="en-US" sz="12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40080" y="4782312"/>
            <a:ext cx="201168" cy="20116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960120" y="4754880"/>
            <a:ext cx="7498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NLP-based matching outperforms keyword-only tools across all user segments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EF9E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300" kern="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FUTURE ROADMAP</a:t>
            </a:r>
            <a:endParaRPr lang="en-US" sz="1100" dirty="0"/>
          </a:p>
        </p:txBody>
      </p:sp>
      <p:sp>
        <p:nvSpPr>
          <p:cNvPr id="3" name="Text 1"/>
          <p:cNvSpPr/>
          <p:nvPr/>
        </p:nvSpPr>
        <p:spPr>
          <a:xfrm>
            <a:off x="640080" y="6858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E293B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What's Next for PriceHawk</a:t>
            </a:r>
            <a:endParaRPr lang="en-US" sz="3200" dirty="0"/>
          </a:p>
        </p:txBody>
      </p:sp>
      <p:sp>
        <p:nvSpPr>
          <p:cNvPr id="4" name="Shape 2"/>
          <p:cNvSpPr/>
          <p:nvPr/>
        </p:nvSpPr>
        <p:spPr>
          <a:xfrm>
            <a:off x="1051560" y="2240280"/>
            <a:ext cx="36576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645920"/>
            <a:ext cx="594360" cy="59436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86968" y="1755648"/>
            <a:ext cx="365760" cy="365760"/>
          </a:xfrm>
          <a:prstGeom prst="rect">
            <a:avLst/>
          </a:prstGeom>
        </p:spPr>
      </p:pic>
      <p:sp>
        <p:nvSpPr>
          <p:cNvPr id="7" name="Shape 4"/>
          <p:cNvSpPr/>
          <p:nvPr/>
        </p:nvSpPr>
        <p:spPr>
          <a:xfrm>
            <a:off x="1645920" y="1508760"/>
            <a:ext cx="66751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8" name="Text 5"/>
          <p:cNvSpPr/>
          <p:nvPr/>
        </p:nvSpPr>
        <p:spPr>
          <a:xfrm>
            <a:off x="1828800" y="15819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1</a:t>
            </a:r>
            <a:endParaRPr lang="en-US" sz="1000" dirty="0"/>
          </a:p>
        </p:txBody>
      </p:sp>
      <p:sp>
        <p:nvSpPr>
          <p:cNvPr id="9" name="Text 6"/>
          <p:cNvSpPr/>
          <p:nvPr/>
        </p:nvSpPr>
        <p:spPr>
          <a:xfrm>
            <a:off x="1828800" y="1783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Expand Retailer Coverage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1828800" y="20574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10+ additional retailers and international market support.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1051560" y="3383280"/>
            <a:ext cx="36576" cy="457200"/>
          </a:xfrm>
          <a:prstGeom prst="rect">
            <a:avLst/>
          </a:prstGeom>
          <a:solidFill>
            <a:srgbClr val="D97706"/>
          </a:solidFill>
          <a:ln/>
        </p:spPr>
      </p:sp>
      <p:sp>
        <p:nvSpPr>
          <p:cNvPr id="12" name="Shape 9"/>
          <p:cNvSpPr/>
          <p:nvPr/>
        </p:nvSpPr>
        <p:spPr>
          <a:xfrm>
            <a:off x="777240" y="2788920"/>
            <a:ext cx="594360" cy="59436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86968" y="2898648"/>
            <a:ext cx="365760" cy="365760"/>
          </a:xfrm>
          <a:prstGeom prst="rect">
            <a:avLst/>
          </a:prstGeom>
        </p:spPr>
      </p:pic>
      <p:sp>
        <p:nvSpPr>
          <p:cNvPr id="14" name="Shape 10"/>
          <p:cNvSpPr/>
          <p:nvPr/>
        </p:nvSpPr>
        <p:spPr>
          <a:xfrm>
            <a:off x="1645920" y="2651760"/>
            <a:ext cx="66751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Text 11"/>
          <p:cNvSpPr/>
          <p:nvPr/>
        </p:nvSpPr>
        <p:spPr>
          <a:xfrm>
            <a:off x="1828800" y="27249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</a:t>
            </a:r>
            <a:endParaRPr lang="en-US" sz="1000" dirty="0"/>
          </a:p>
        </p:txBody>
      </p:sp>
      <p:sp>
        <p:nvSpPr>
          <p:cNvPr id="16" name="Text 12"/>
          <p:cNvSpPr/>
          <p:nvPr/>
        </p:nvSpPr>
        <p:spPr>
          <a:xfrm>
            <a:off x="1828800" y="2926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Personalized Recommendations</a:t>
            </a:r>
            <a:endParaRPr lang="en-US" sz="1400" dirty="0"/>
          </a:p>
        </p:txBody>
      </p:sp>
      <p:sp>
        <p:nvSpPr>
          <p:cNvPr id="17" name="Text 13"/>
          <p:cNvSpPr/>
          <p:nvPr/>
        </p:nvSpPr>
        <p:spPr>
          <a:xfrm>
            <a:off x="1828800" y="32004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ML-powered suggestions based on purchase history and preferences.</a:t>
            </a:r>
            <a:endParaRPr lang="en-US" sz="1100" dirty="0"/>
          </a:p>
        </p:txBody>
      </p:sp>
      <p:sp>
        <p:nvSpPr>
          <p:cNvPr id="18" name="Shape 14"/>
          <p:cNvSpPr/>
          <p:nvPr/>
        </p:nvSpPr>
        <p:spPr>
          <a:xfrm>
            <a:off x="777240" y="3931920"/>
            <a:ext cx="594360" cy="594360"/>
          </a:xfrm>
          <a:prstGeom prst="ellipse">
            <a:avLst/>
          </a:prstGeom>
          <a:solidFill>
            <a:srgbClr val="D9770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6968" y="4041648"/>
            <a:ext cx="365760" cy="365760"/>
          </a:xfrm>
          <a:prstGeom prst="rect">
            <a:avLst/>
          </a:prstGeom>
        </p:spPr>
      </p:pic>
      <p:sp>
        <p:nvSpPr>
          <p:cNvPr id="20" name="Shape 15"/>
          <p:cNvSpPr/>
          <p:nvPr/>
        </p:nvSpPr>
        <p:spPr>
          <a:xfrm>
            <a:off x="1645920" y="3794760"/>
            <a:ext cx="6675120" cy="8686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25400" dir="8100000">
              <a:srgbClr val="000000">
                <a:alpha val="10000"/>
              </a:srgbClr>
            </a:outerShdw>
          </a:effectLst>
        </p:spPr>
      </p:sp>
      <p:sp>
        <p:nvSpPr>
          <p:cNvPr id="21" name="Text 16"/>
          <p:cNvSpPr/>
          <p:nvPr/>
        </p:nvSpPr>
        <p:spPr>
          <a:xfrm>
            <a:off x="1828800" y="3867912"/>
            <a:ext cx="10972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</a:t>
            </a:r>
            <a:endParaRPr lang="en-US" sz="1000" dirty="0"/>
          </a:p>
        </p:txBody>
      </p:sp>
      <p:sp>
        <p:nvSpPr>
          <p:cNvPr id="22" name="Text 17"/>
          <p:cNvSpPr/>
          <p:nvPr/>
        </p:nvSpPr>
        <p:spPr>
          <a:xfrm>
            <a:off x="1828800" y="406908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93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 App &amp; Browser Extension</a:t>
            </a:r>
            <a:endParaRPr lang="en-US" sz="1400" dirty="0"/>
          </a:p>
        </p:txBody>
      </p:sp>
      <p:sp>
        <p:nvSpPr>
          <p:cNvPr id="23" name="Text 18"/>
          <p:cNvSpPr/>
          <p:nvPr/>
        </p:nvSpPr>
        <p:spPr>
          <a:xfrm>
            <a:off x="1828800" y="4343400"/>
            <a:ext cx="6309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Real-time price alerts and one-click comparison while browsing.</a:t>
            </a:r>
            <a:endParaRPr lang="en-US" sz="11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886200" y="731520"/>
            <a:ext cx="1371600" cy="13716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457200" y="2194560"/>
            <a:ext cx="82296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You!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914400" y="29260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D977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 &amp; Discussion</a:t>
            </a:r>
            <a:endParaRPr lang="en-US" sz="2000" dirty="0"/>
          </a:p>
        </p:txBody>
      </p:sp>
      <p:sp>
        <p:nvSpPr>
          <p:cNvPr id="6" name="Text 3"/>
          <p:cNvSpPr/>
          <p:nvPr/>
        </p:nvSpPr>
        <p:spPr>
          <a:xfrm>
            <a:off x="914400" y="3657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PriceHawk  |  Price Intelligence for Retailers &amp; Consumers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91440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MSIS 521B  •  Foster School of Business  •  Winter 2026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0" y="5088636"/>
            <a:ext cx="9144000" cy="54864"/>
          </a:xfrm>
          <a:prstGeom prst="rect">
            <a:avLst/>
          </a:prstGeom>
          <a:solidFill>
            <a:srgbClr val="D97706"/>
          </a:solidFill>
          <a:ln/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PriceHawk - AI-Powered Price Intelligence</dc:title>
  <dc:subject>PptxGenJS Presentation</dc:subject>
  <dc:creator>PriceHawk Team</dc:creator>
  <cp:lastModifiedBy>PriceHawk Team</cp:lastModifiedBy>
  <cp:revision>1</cp:revision>
  <dcterms:created xsi:type="dcterms:W3CDTF">2026-03-07T01:43:27Z</dcterms:created>
  <dcterms:modified xsi:type="dcterms:W3CDTF">2026-03-07T01:43:27Z</dcterms:modified>
</cp:coreProperties>
</file>